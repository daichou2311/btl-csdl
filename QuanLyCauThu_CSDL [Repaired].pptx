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70" r:id="rId4"/>
    <p:sldId id="257" r:id="rId5"/>
    <p:sldId id="258" r:id="rId6"/>
    <p:sldId id="259" r:id="rId7"/>
    <p:sldId id="266" r:id="rId8"/>
    <p:sldId id="268" r:id="rId9"/>
    <p:sldId id="267" r:id="rId10"/>
    <p:sldId id="260" r:id="rId11"/>
    <p:sldId id="261" r:id="rId12"/>
    <p:sldId id="262" r:id="rId13"/>
    <p:sldId id="263" r:id="rId14"/>
    <p:sldId id="264" r:id="rId15"/>
    <p:sldId id="271" r:id="rId16"/>
    <p:sldId id="272" r:id="rId17"/>
    <p:sldId id="273" r:id="rId18"/>
    <p:sldId id="274" r:id="rId19"/>
    <p:sldId id="276" r:id="rId20"/>
    <p:sldId id="277" r:id="rId21"/>
    <p:sldId id="265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8" autoAdjust="0"/>
    <p:restoredTop sz="94648" autoAdjust="0"/>
  </p:normalViewPr>
  <p:slideViewPr>
    <p:cSldViewPr snapToGrid="0" snapToObjects="1">
      <p:cViewPr varScale="1">
        <p:scale>
          <a:sx n="103" d="100"/>
          <a:sy n="103" d="100"/>
        </p:scale>
        <p:origin x="850" y="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45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29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86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59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82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30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558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70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660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69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35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18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49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0D2418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BÀI TẬP LỚN MÔN CSDL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QUẢN LÝ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84048" y="217627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CẦU THỦ BÓNG ĐÁ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84048" y="303580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C8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Thiết kế và triển khai cơ sở dữ liệu trên SQL Server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812"/>
          </a:solidFill>
          <a:ln w="12700">
            <a:solidFill>
              <a:srgbClr val="0718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B88A"/>
                </a:solidFill>
              </a:rPr>
              <a:t>Môn học: Cơ Sở Dữ Liệu   |   Hệ quản trị CSDL: Microsoft SQL Server   |   Năm học: 2025–2026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0D2418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2504"/>
            <a:ext cx="1333500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222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Nhóm</a:t>
            </a:r>
            <a:r>
              <a:rPr lang="en-US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6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812"/>
          </a:solidFill>
          <a:ln w="12700">
            <a:solidFill>
              <a:srgbClr val="0718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B88A"/>
                </a:solidFill>
              </a:rPr>
              <a:t>Môn học: Cơ Sở Dữ Liệu   |   Hệ quản trị CSDL: Microsoft SQL Server   |   Năm học: 2025–2026</a:t>
            </a:r>
            <a:endParaRPr lang="en-US" sz="11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E4FCC95-8CE1-E9F5-7EA6-710AFE0A86C8}"/>
              </a:ext>
            </a:extLst>
          </p:cNvPr>
          <p:cNvSpPr/>
          <p:nvPr/>
        </p:nvSpPr>
        <p:spPr>
          <a:xfrm>
            <a:off x="274320" y="650748"/>
            <a:ext cx="1333500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0860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0D2418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0700" y="155448"/>
            <a:ext cx="5623560" cy="1187196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7907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0A2218"/>
                </a:solidFill>
              </a:rPr>
              <a:t>Nhóm</a:t>
            </a:r>
            <a:r>
              <a:rPr lang="en-US" sz="2100" b="1" dirty="0">
                <a:solidFill>
                  <a:srgbClr val="0A2218"/>
                </a:solidFill>
              </a:rPr>
              <a:t> 6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812"/>
          </a:solidFill>
          <a:ln w="12700">
            <a:solidFill>
              <a:srgbClr val="0718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B88A"/>
                </a:solidFill>
              </a:rPr>
              <a:t>Môn học: Cơ Sở Dữ Liệu   |   Hệ quản trị CSDL: Microsoft SQL Server   |   Năm học: 2025–2026</a:t>
            </a:r>
            <a:endParaRPr lang="en-US" sz="11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DD4C56C-8DF5-4F46-2F4C-A0C27132C13A}"/>
              </a:ext>
            </a:extLst>
          </p:cNvPr>
          <p:cNvSpPr/>
          <p:nvPr/>
        </p:nvSpPr>
        <p:spPr>
          <a:xfrm>
            <a:off x="274322" y="1918716"/>
            <a:ext cx="2567941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 err="1"/>
              <a:t>Đào</a:t>
            </a:r>
            <a:r>
              <a:rPr lang="en-US" sz="2100" dirty="0"/>
              <a:t> </a:t>
            </a:r>
            <a:r>
              <a:rPr lang="en-US" sz="2100" dirty="0" err="1"/>
              <a:t>Đình</a:t>
            </a:r>
            <a:r>
              <a:rPr lang="en-US" sz="2100" dirty="0"/>
              <a:t> </a:t>
            </a:r>
            <a:r>
              <a:rPr lang="en-US" sz="2100" dirty="0" err="1"/>
              <a:t>Đại</a:t>
            </a:r>
            <a:endParaRPr lang="en-US" sz="21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B93B2DD-5D9A-709E-303E-F168331AF2FC}"/>
              </a:ext>
            </a:extLst>
          </p:cNvPr>
          <p:cNvSpPr/>
          <p:nvPr/>
        </p:nvSpPr>
        <p:spPr>
          <a:xfrm>
            <a:off x="274321" y="2426208"/>
            <a:ext cx="2567941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/>
              <a:t>Cao Vũ Duy Tân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9544B0FD-F0D4-7C05-588E-BE84B244DC54}"/>
              </a:ext>
            </a:extLst>
          </p:cNvPr>
          <p:cNvSpPr/>
          <p:nvPr/>
        </p:nvSpPr>
        <p:spPr>
          <a:xfrm>
            <a:off x="274322" y="3425952"/>
            <a:ext cx="2567940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 err="1"/>
              <a:t>Nguyễn</a:t>
            </a:r>
            <a:r>
              <a:rPr lang="en-US" sz="2100" dirty="0"/>
              <a:t> Duy Anh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4BC17E5-6131-2E63-EEA3-56D2D93563E3}"/>
              </a:ext>
            </a:extLst>
          </p:cNvPr>
          <p:cNvSpPr/>
          <p:nvPr/>
        </p:nvSpPr>
        <p:spPr>
          <a:xfrm>
            <a:off x="274321" y="2926080"/>
            <a:ext cx="2567941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 err="1"/>
              <a:t>Đặng</a:t>
            </a:r>
            <a:r>
              <a:rPr lang="en-US" sz="2100" dirty="0"/>
              <a:t> </a:t>
            </a:r>
            <a:r>
              <a:rPr lang="en-US" sz="2100" dirty="0" err="1"/>
              <a:t>Đình</a:t>
            </a:r>
            <a:r>
              <a:rPr lang="en-US" sz="2100" dirty="0"/>
              <a:t> </a:t>
            </a:r>
            <a:r>
              <a:rPr lang="en-US" sz="2100" dirty="0" err="1"/>
              <a:t>Thắng</a:t>
            </a:r>
            <a:endParaRPr lang="en-US" sz="21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A9AB98E-C7E2-A13C-E683-79B38339C3FF}"/>
              </a:ext>
            </a:extLst>
          </p:cNvPr>
          <p:cNvSpPr/>
          <p:nvPr/>
        </p:nvSpPr>
        <p:spPr>
          <a:xfrm>
            <a:off x="274322" y="3924300"/>
            <a:ext cx="2567940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/>
              <a:t>Hoàng </a:t>
            </a:r>
            <a:r>
              <a:rPr lang="en-US" sz="2100" dirty="0" err="1"/>
              <a:t>Nhật</a:t>
            </a:r>
            <a:r>
              <a:rPr lang="en-US" sz="2100" dirty="0"/>
              <a:t> Minh</a:t>
            </a: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E4FCC95-8CE1-E9F5-7EA6-710AFE0A86C8}"/>
              </a:ext>
            </a:extLst>
          </p:cNvPr>
          <p:cNvSpPr/>
          <p:nvPr/>
        </p:nvSpPr>
        <p:spPr>
          <a:xfrm flipV="1">
            <a:off x="224791" y="1543431"/>
            <a:ext cx="5673089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F7E3AC66-4BBE-376D-825A-BA3746E1469A}"/>
              </a:ext>
            </a:extLst>
          </p:cNvPr>
          <p:cNvSpPr/>
          <p:nvPr/>
        </p:nvSpPr>
        <p:spPr>
          <a:xfrm>
            <a:off x="3035810" y="1924812"/>
            <a:ext cx="1571243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243630572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E878540-1109-BFA8-B995-3B70274A94B0}"/>
              </a:ext>
            </a:extLst>
          </p:cNvPr>
          <p:cNvSpPr/>
          <p:nvPr/>
        </p:nvSpPr>
        <p:spPr>
          <a:xfrm>
            <a:off x="3035811" y="2426208"/>
            <a:ext cx="1571242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243630604</a:t>
            </a: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B73AE2FC-5755-069B-4E03-3C73F5CDEA9A}"/>
              </a:ext>
            </a:extLst>
          </p:cNvPr>
          <p:cNvSpPr/>
          <p:nvPr/>
        </p:nvSpPr>
        <p:spPr>
          <a:xfrm>
            <a:off x="3035810" y="3465576"/>
            <a:ext cx="1571241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243624448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AC882B9B-9A8B-AD3F-32F1-39448F9C98C0}"/>
              </a:ext>
            </a:extLst>
          </p:cNvPr>
          <p:cNvSpPr/>
          <p:nvPr/>
        </p:nvSpPr>
        <p:spPr>
          <a:xfrm>
            <a:off x="3035811" y="2929127"/>
            <a:ext cx="1571242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243630608</a:t>
            </a: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E0A7E32-BA47-D762-A7B3-B6440FCA1810}"/>
              </a:ext>
            </a:extLst>
          </p:cNvPr>
          <p:cNvSpPr/>
          <p:nvPr/>
        </p:nvSpPr>
        <p:spPr>
          <a:xfrm>
            <a:off x="3035811" y="3962400"/>
            <a:ext cx="1571242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r>
              <a:rPr 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243630590</a:t>
            </a: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1E9CE963-DEAA-D880-656F-AAD7DF6D9FF5}"/>
              </a:ext>
            </a:extLst>
          </p:cNvPr>
          <p:cNvSpPr txBox="1"/>
          <p:nvPr/>
        </p:nvSpPr>
        <p:spPr>
          <a:xfrm>
            <a:off x="289180" y="543806"/>
            <a:ext cx="545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bóng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đá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23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8" grpId="0" animBg="1"/>
      <p:bldP spid="9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Hệ Thống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2694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Hệ thống quản lý toàn diện thông tin cầu thủ bóng đá, câu lạc bộ, hợp đồng, giải đấu và thống kê thi đấu.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651760" cy="1325880"/>
          </a:xfrm>
          <a:prstGeom prst="rect">
            <a:avLst/>
          </a:prstGeom>
          <a:solidFill>
            <a:srgbClr val="EAF4EC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64008" cy="132588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👤  Cầu thủ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" y="217627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Quản lý thông tin cá nhân, chỉ số thể chất, giá trị chuyển nhượng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45920"/>
            <a:ext cx="64008" cy="132588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🏟️  Câu lạc bộ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10712" y="217627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Thông tin CLB, sân vận động, quốc gia, năm thành lập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1325880"/>
          </a:xfrm>
          <a:prstGeom prst="rect">
            <a:avLst/>
          </a:prstGeom>
          <a:solidFill>
            <a:srgbClr val="EAF4EC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45920"/>
            <a:ext cx="64008" cy="132588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📝  Hợp đồng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91072" y="217627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Theo dõi hợp đồng, lương tháng, phí chuyển nhượng, trạng thái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00400"/>
            <a:ext cx="64008" cy="132588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37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🏆  Giải đấu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" y="373075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Quản lý giải đấu: V.League, Premier League, Champions League...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651760" cy="1325880"/>
          </a:xfrm>
          <a:prstGeom prst="rect">
            <a:avLst/>
          </a:prstGeom>
          <a:solidFill>
            <a:srgbClr val="EAF4EC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200400"/>
            <a:ext cx="64008" cy="132588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337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⚽  Trận đấu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10712" y="373075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Lịch thi đấu, kết quả, vòng đấu theo từng mùa giải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26480" y="32004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200400"/>
            <a:ext cx="64008" cy="132588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337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📊  Thống kê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91072" y="373075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Bàn thắng, kiến tạo, thẻ vàng/đỏ, đánh giá từng trận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Thiết Kế Cơ Sở Dữ Liệu – 9 Bảng Dữ Liệu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1828800" cy="1051560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828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Bảng dữ liệu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31720" y="1051560"/>
            <a:ext cx="1828800" cy="1051560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31720" y="1051560"/>
            <a:ext cx="1828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161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31720" y="17099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10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tục</a:t>
            </a:r>
            <a:r>
              <a:rPr lang="en-US" sz="10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lưu</a:t>
            </a:r>
            <a:r>
              <a:rPr lang="en-US" sz="10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trữ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1828800" cy="1051560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051560"/>
            <a:ext cx="1828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161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97680" y="17099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View tổng hợp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051560"/>
            <a:ext cx="1828800" cy="1051560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051560"/>
            <a:ext cx="1828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61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17099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Truy vấn tiêu biểu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4023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77440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377440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QuocGia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11680" y="2377440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Danh sách quốc gia (mã ISO, châu lục)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2889504"/>
            <a:ext cx="4023360" cy="448056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89504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889504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ViTri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11680" y="2889504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Vị trí thi đấu (GK, CB, ST, ...)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3401568"/>
            <a:ext cx="4023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01568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3401568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CLB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011680" y="3401568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Câu lạc bộ (sân vận động, sức chứa)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3913632"/>
            <a:ext cx="4023360" cy="448056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913632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91363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CauThu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011680" y="3913632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Cầu thủ (thể chất, giá trị chuyển nhượng)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" y="4425696"/>
            <a:ext cx="4023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25696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" y="4425696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HopDong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011680" y="4425696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Hợp đồng (lương, phí, trạng thái)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63440" y="2377440"/>
            <a:ext cx="4023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377440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2377440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GiaiDau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09360" y="2377440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Giải đấu (V.League, La Liga, UCL...)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663440" y="2889504"/>
            <a:ext cx="4023360" cy="448056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889504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2889504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TranDau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09360" y="2889504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Trận đấu (kết quả, vòng đấu)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663440" y="3401568"/>
            <a:ext cx="4023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401568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401568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ThongKeCauThu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309360" y="3401568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Thống kê cầu thủ theo từng trận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663440" y="3913632"/>
            <a:ext cx="4023360" cy="448056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913632"/>
            <a:ext cx="54864" cy="4480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9744" y="391363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ChanThuong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309360" y="3913632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Lịch sử chấn thương &amp; hồi phục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6" grpId="0" animBg="1"/>
      <p:bldP spid="47" grpId="0" animBg="1"/>
      <p:bldP spid="50" grpId="0" animBg="1"/>
      <p:bldP spid="51" grpId="0" animBg="1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Quan Hệ Giữa Các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(RM)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ViTri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TranDau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3834" y="347472"/>
            <a:ext cx="319296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Quan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Giữa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(RM)</a:t>
            </a:r>
            <a:endParaRPr lang="en-US" sz="2600" dirty="0"/>
          </a:p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QuocGia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ViTri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TranDau</a:t>
            </a:r>
            <a:endParaRPr lang="en-US" sz="1050" dirty="0"/>
          </a:p>
        </p:txBody>
      </p:sp>
      <p:pic>
        <p:nvPicPr>
          <p:cNvPr id="41" name="Hình ảnh 40" descr="Ảnh có chứa văn bản, ảnh chụp màn hình, biểu đồ&#10;&#10;Nội dung do AI tạo ra có thể không chính xác.">
            <a:extLst>
              <a:ext uri="{FF2B5EF4-FFF2-40B4-BE49-F238E27FC236}">
                <a16:creationId xmlns:a16="http://schemas.microsoft.com/office/drawing/2014/main" id="{6257DA7C-A92F-850C-59AD-68C61AE1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690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55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Mô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Hình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Thực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Thể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Liên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Kết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(ER) 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ViTri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TranDau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07111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3834" y="347472"/>
            <a:ext cx="319296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Mô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Hình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Thực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Thể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Liên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Kết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(ER) </a:t>
            </a:r>
            <a:endParaRPr lang="en-US" sz="2600" dirty="0"/>
          </a:p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QuocGia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ViTri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0" y="1005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TranDau</a:t>
            </a:r>
            <a:endParaRPr lang="en-US" sz="1050" dirty="0"/>
          </a:p>
        </p:txBody>
      </p:sp>
      <p:pic>
        <p:nvPicPr>
          <p:cNvPr id="8" name="Hình ảnh 7" descr="Ảnh có chứa ảnh chụp màn hình&#10;&#10;Nội dung do AI tạo ra có thể không chính xác.">
            <a:extLst>
              <a:ext uri="{FF2B5EF4-FFF2-40B4-BE49-F238E27FC236}">
                <a16:creationId xmlns:a16="http://schemas.microsoft.com/office/drawing/2014/main" id="{53F2E1A5-A34D-7140-ECDB-1145DC777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274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60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Tiết Bảng Quan Trọng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3931920" cy="384048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Bảng CauThu (Cầu thủ)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" y="1261872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MaCauThu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64792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7180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</a:rPr>
              <a:t>PK, IDENTITY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" y="1600200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HoTen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64792" y="1600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NVARCHAR(150)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NOT NULL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" y="1938528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938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NgaySinh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64792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1800" y="19385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NOT NULL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276856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2276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MaQuocTich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64792" y="22768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71800" y="2276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017"/>
                </a:solidFill>
              </a:rPr>
              <a:t>FK → QuocGia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615184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615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MaViTri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37360" y="26151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44368" y="26151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017"/>
                </a:solidFill>
              </a:rPr>
              <a:t>FK → ViTri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953512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953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MaCLBHienTai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2953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44368" y="29535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017"/>
                </a:solidFill>
              </a:rPr>
              <a:t>FK → CLB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ChieuCao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3736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DECIMAL(5,2)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44368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cm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630168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630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CanNang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37360" y="3630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DECIMAL(5,2)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44368" y="36301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kg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968496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968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SoAo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737360" y="39684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44368" y="39684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306824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3068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GiaTriChuyenNhuong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737360" y="43068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DECIMAL(15,2)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44368" y="430682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triệu EUR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841248"/>
            <a:ext cx="4206240" cy="384048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841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🏟️  Bảng CLB (Câu lạc bộ)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0" y="1261872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45152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MaCLB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35040" y="12618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88352" y="12618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</a:rPr>
              <a:t>PK, IDENTITY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1600200"/>
            <a:ext cx="420624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TenCLB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3504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NVARCHAR(150)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88352" y="16002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NOT NULL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1938528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5152" y="1938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TenVietTat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035040" y="1938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NVARCHAR(20)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88352" y="193852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0" y="2276856"/>
            <a:ext cx="420624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45152" y="2276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ThanhPho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035040" y="22768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NVARCHAR(100)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88352" y="2276856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2615184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45152" y="2615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MaQuocGia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035040" y="26151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388352" y="261518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017"/>
                </a:solidFill>
              </a:rPr>
              <a:t>FK → QuocGia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0" y="2953512"/>
            <a:ext cx="420624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45152" y="2953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NamThanhLap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035040" y="29535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88352" y="295351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0" y="3291840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45152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SanVanDong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03504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NVARCHAR(150)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388352" y="32918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0" y="3630168"/>
            <a:ext cx="420624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45152" y="3630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SucChuaSan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035040" y="36301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INT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388352" y="36301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Số khán giả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0" y="3968496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45152" y="3968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</a:rPr>
              <a:t>Logo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035040" y="39684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NVARCHAR(255)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388352" y="3968496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</a:rPr>
              <a:t>Đường dẫn ảnh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3" grpId="0" animBg="1"/>
      <p:bldP spid="44" grpId="0" animBg="1"/>
      <p:bldP spid="45" grpId="0" animBg="1"/>
      <p:bldP spid="47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61" grpId="0" animBg="1"/>
      <p:bldP spid="62" grpId="0" animBg="1"/>
      <p:bldP spid="65" grpId="0" animBg="1"/>
      <p:bldP spid="66" grpId="0" animBg="1"/>
      <p:bldP spid="67" grpId="0" animBg="1"/>
      <p:bldP spid="69" grpId="0" animBg="1"/>
      <p:bldP spid="70" grpId="0" animBg="1"/>
      <p:bldP spid="73" grpId="0" animBg="1"/>
      <p:bldP spid="74" grpId="0" animBg="1"/>
      <p:bldP spid="77" grpId="0" animBg="1"/>
      <p:bldP spid="78" grpId="0" animBg="1"/>
      <p:bldP spid="79" grpId="0" animBg="1"/>
      <p:bldP spid="81" grpId="0" animBg="1"/>
      <p:bldP spid="82" grpId="0" animBg="1"/>
      <p:bldP spid="8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523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Ràng Buộc Toàn Vẹn (Constraints)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506154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61193"/>
            <a:ext cx="2788920" cy="41148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1193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🔗 Khóa Ngoại (FOREIGN KEY)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136681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668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CLB.MaQuocGia → QuocGia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84153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4153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CauThu.MaQuocTich → QuocGia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31625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31625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CauThu.MaViTri → ViTri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79097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7909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CauThu.MaCLBHienTai → CLB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26569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26569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HopDong.MaCauThu → CauThu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74041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7404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HopDong.MaCLB → CLB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21513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21513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GiaiDau.MaQuocGia → QuocGia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68985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68985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TranDau.MaCLBNha → CLB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916457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91645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TranDau.MaCLBKhach → CLB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63929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263929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ThongKe.MaCauThu → CauThu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11401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61140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ThongKe.MaTranDau → TranDau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5285232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285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ChanThuong.MaCauThu → CauThu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661193"/>
            <a:ext cx="2788920" cy="41148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661193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Kiểm Tra (CHECK)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37560" y="1136681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113668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HopDong: NgayKetThuc &gt; NgayBatDau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1484153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1484153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HopDong: TrangThai IN ('Hiệu lực', 'Hết hạn', 'Thanh lý')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1831625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7288" y="1831625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GiaiDau: LoaiGiai IN ('Vô địch quốc gia', 'Cúp quốc gia', 'Cúp châu lục',...)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37560" y="2179097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47288" y="217909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TranDau: MaCLBNha ≠ MaCLBKhach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37560" y="2526569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47288" y="2526569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TranDau: TrangThai IN ('Chờ diễn ra', 'Đang diễn ra', 'Đã kết thúc', 'Hoãn')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37560" y="2874041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287404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ThongKe: SoPhutThiDau BETWEEN 0 AND 120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37560" y="3221513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47288" y="3221513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ThongKe: TheVang IN (0, 1, 2)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337560" y="3568985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7288" y="3568985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ThongKe: TheDo IN (0, 1)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37560" y="3916457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47288" y="391645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ThongKe: DanhGia BETWEEN 1.0 AND 10.0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37560" y="4263929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47288" y="4263929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ChanThuong: NgayHoiPhuc ≥ NgayChanThuong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9360" y="661193"/>
            <a:ext cx="2788920" cy="411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661193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🔑 Duy Nhất (UNIQUE / PK)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09360" y="1136681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9088" y="113668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QuocGia.MaISO (UNIQUE)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09360" y="1484153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9088" y="1484153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ViTri.KyHieu (UNIQUE)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309360" y="1831625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19088" y="1831625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ThongKe(MaCauThu, MaTranDau) UNIQUE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2179097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19088" y="217909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Tất cả bảng có PRIMARY KEY IDENTITY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309360" y="2874041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19088" y="287404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</a:rPr>
              <a:t>🔒 Giao Dịch (TRANSACTION)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09360" y="3221513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19088" y="3221513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sp_ChuyenNhuong dùng BEGIN TRANSACTION để đảm bảo tính nhất quán khi chuyển nhượng cầu thủ: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09360" y="3568985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19088" y="3568985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</a:rPr>
              <a:t>• Cập nhật CLB mới cho cầu thủ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309360" y="3916457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19088" y="391645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</a:rPr>
              <a:t>• Hết hạn hợp đồng cũ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309360" y="4263929"/>
            <a:ext cx="2788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19088" y="4263929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</a:rPr>
              <a:t>• Tạo hợp đồng mới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Stored Procedures – Thủ Tục Lưu Trữ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1261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657600" cy="384048"/>
          </a:xfrm>
          <a:prstGeom prst="rect">
            <a:avLst/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sp_ThemCauThu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0" y="9784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Thêm mới cầu thủ vào hệ thống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Tham số: 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1389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@HoTen, @NgaySinh, @MaQuocTich, @MaViTri, @MaCLB (tùy chọn), @ChieuCao, @CanNang, @SoAo, @GiaTriChuyenNhuong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7465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Kết quả: 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17465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Trả về MaCauThuMoi vừa được tạo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91440" cy="1261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31720"/>
            <a:ext cx="3657600" cy="384048"/>
          </a:xfrm>
          <a:prstGeom prst="rect">
            <a:avLst/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50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sp_TimKiemCauThu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0" y="23500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Tìm kiếm cầu thủ theo nhiều tiêu chí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Tham số: 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1600" y="27614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@TenTimKiem (LIKE), @MaViTri, @MaQuocTich, @MaCLB – tất cả đều tùy chọn (NULL = bỏ qua)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1181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Kết quả: 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31181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Danh sách cầu thủ phù hợp (tên, tuổi, vị trí, CLB, giá trị)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03320"/>
            <a:ext cx="91440" cy="1261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03320"/>
            <a:ext cx="3657600" cy="384048"/>
          </a:xfrm>
          <a:prstGeom prst="rect">
            <a:avLst/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21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sp_ChuyenNhuong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43200" y="37216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Chuyển nhượng cầu thủ giữa các CLB (có Transaction)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133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Tham số: 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71600" y="4133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@MaCauThu, @MaCLBMoi, @NgayHieuLuc, @NgayKetThuc, @LuongThang, @PhiCN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4489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Kết quả: 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371600" y="44897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Cập nhật CLB, chấm dứt hợp đồng cũ, tạo hợp đồng mới – Rollback nếu lỗi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View &amp; Các Truy Vấn Tiêu Biểu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3931920" cy="384048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🔍  vw_TongQuanCauThu (View)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View tổng hợp thông tin đầy đủ từ nhiều bảng: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190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  MaCauThu, HoTen, Tuổi (tính từ NgaySinh)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75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  QuocTich (TenQuocGia), ViTri (TenViTri, KyHieu)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432304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323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  CLBHienTai, ChieuCao, CanNang, SoAo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88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  GiaTriChuyenNhuong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145536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455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  SoTranDaDau (COUNT DISTINCT)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502152"/>
            <a:ext cx="3931920" cy="320040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5021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  TongBanThang (SUM), TongKienTao (SUM)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" y="39136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JOIN: CauThu ⟕ QuocGia ⟕ ViTri ⟕ CLB ⟕ ThongKeCauThu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34840" y="914400"/>
            <a:ext cx="4434840" cy="384048"/>
          </a:xfrm>
          <a:prstGeom prst="rect">
            <a:avLst/>
          </a:prstGeom>
          <a:solidFill>
            <a:srgbClr val="236B3E"/>
          </a:solidFill>
          <a:ln w="12700">
            <a:solidFill>
              <a:srgbClr val="236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9144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📊  6 Truy Vấn Tiêu Biểu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34840" y="1371600"/>
            <a:ext cx="4434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07992" y="1463040"/>
            <a:ext cx="384048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14630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Q1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56048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Danh sách cầu thủ &amp; thông tin đầy đủ – ORDER BY giá trị chuyển nhượng DESC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34840" y="1947672"/>
            <a:ext cx="4434840" cy="512064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2039112"/>
            <a:ext cx="384048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20391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Q2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56048" y="2039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Tổng bàn thắng &amp; kiến tạo mỗi cầu thủ – GROUP BY, SUM, AVG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2523744"/>
            <a:ext cx="4434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7992" y="2615184"/>
            <a:ext cx="384048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26151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Q3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56048" y="26151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Kết quả các trận đấu – JOIN 4 bảng, ORDER BY ngày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34840" y="3099816"/>
            <a:ext cx="4434840" cy="512064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07992" y="3191256"/>
            <a:ext cx="384048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7992" y="31912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Q4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56048" y="31912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Hợp đồng đang hiệu lực – DATEDIFF số tháng còn lại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34840" y="3675888"/>
            <a:ext cx="4434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07992" y="3767328"/>
            <a:ext cx="384048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07992" y="37673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Q5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956048" y="37673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ghi bàn mỗi giải đấu – GROUP BY giải, tên cầu thủ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434840" y="4251960"/>
            <a:ext cx="4434840" cy="512064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7992" y="4343400"/>
            <a:ext cx="384048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07992" y="43434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Q6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956048" y="4343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Lịch sử chấn thương – DATEDIFF số ngày nghỉ, ISNULL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4" grpId="0" animBg="1"/>
      <p:bldP spid="25" grpId="0" animBg="1"/>
      <p:bldP spid="28" grpId="0" animBg="1"/>
      <p:bldP spid="29" grpId="0" animBg="1"/>
      <p:bldP spid="32" grpId="0" animBg="1"/>
      <p:bldP spid="33" grpId="0" animBg="1"/>
      <p:bldP spid="36" grpId="0" animBg="1"/>
      <p:bldP spid="37" grpId="0" animBg="1"/>
      <p:bldP spid="40" grpId="0" animBg="1"/>
      <p:bldP spid="41" grpId="0" animBg="1"/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Mẫu Đã Nhập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Hệ thống đã được khởi tạo với bộ dữ liệu mẫu đa dạng, bao gồm cả cầu thủ Việt Nam và quốc tế.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36576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Cầu thủ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8483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Quốc tịch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5643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Vị trí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2803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CLB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05472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Giá trị (tr.EUR)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865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Nguyễn Quang Hải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84832" y="1865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Việt Nam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56432" y="1865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CAM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28032" y="1865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Hà Nội FC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05472" y="18653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2.50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8595360" cy="329184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2128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Kylian Mbappé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84832" y="22128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Pháp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56432" y="22128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WF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28032" y="22128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Manchester City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05472" y="22128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180.00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2560320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560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Erling Haaland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084832" y="2560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 Uy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56432" y="2560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28032" y="2560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Manchester City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05472" y="25603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200.00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2907792"/>
            <a:ext cx="8595360" cy="329184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9077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Lamine Yamal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084832" y="29077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Tây Ban Nha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56432" y="29077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WF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28032" y="29077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FC Barcelona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205472" y="29077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120.00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325526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2552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Vinicius Junior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084832" y="32552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Brazil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456432" y="32552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WF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28032" y="32552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 Madrid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05472" y="32552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150.00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602736"/>
            <a:ext cx="8595360" cy="329184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6027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Jude Bellingham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084832" y="36027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Anh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456432" y="36027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CAM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28032" y="36027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 Madrid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205472" y="36027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180.00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4320" y="3950208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950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Florian Wirtz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084832" y="3950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Đức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456432" y="3950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CAM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28032" y="3950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Bayern Munich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205472" y="39502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130.00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74320" y="4297680"/>
            <a:ext cx="8595360" cy="329184"/>
          </a:xfrm>
          <a:prstGeom prst="rect">
            <a:avLst/>
          </a:prstGeom>
          <a:solidFill>
            <a:srgbClr val="F0F7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297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Harry Kane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084832" y="4297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Anh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456432" y="4297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828032" y="4297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Bayern Munich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205472" y="4297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90.00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74320" y="4617720"/>
            <a:ext cx="1965960" cy="402336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617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 Quốc gia  •  3 châu lục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468880" y="4617720"/>
            <a:ext cx="1965960" cy="402336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0" y="4617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 CLB  •  5 giải đấu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663440" y="4617720"/>
            <a:ext cx="1965960" cy="402336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4617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 trận đấu  •  11 thống kê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858000" y="4617720"/>
            <a:ext cx="1965960" cy="402336"/>
          </a:xfrm>
          <a:prstGeom prst="rect">
            <a:avLst/>
          </a:prstGeom>
          <a:solidFill>
            <a:srgbClr val="EAF4EC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4617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hợp đồng  •  3 chấn thương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"/>
            <a:ext cx="8348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sách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liệu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mẫu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của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cầu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thủ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6120" y="493776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68" name="Hình ảnh 67">
            <a:extLst>
              <a:ext uri="{FF2B5EF4-FFF2-40B4-BE49-F238E27FC236}">
                <a16:creationId xmlns:a16="http://schemas.microsoft.com/office/drawing/2014/main" id="{A5209EA7-A452-1727-59FD-852387CBB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0" y="611923"/>
            <a:ext cx="8562975" cy="1600200"/>
          </a:xfrm>
          <a:prstGeom prst="rect">
            <a:avLst/>
          </a:prstGeom>
        </p:spPr>
      </p:pic>
      <p:sp>
        <p:nvSpPr>
          <p:cNvPr id="70" name="Hộp Văn bản 69">
            <a:extLst>
              <a:ext uri="{FF2B5EF4-FFF2-40B4-BE49-F238E27FC236}">
                <a16:creationId xmlns:a16="http://schemas.microsoft.com/office/drawing/2014/main" id="{4C5BB2AD-3AAE-E072-AF81-789514426A43}"/>
              </a:ext>
            </a:extLst>
          </p:cNvPr>
          <p:cNvSpPr txBox="1"/>
          <p:nvPr/>
        </p:nvSpPr>
        <p:spPr>
          <a:xfrm>
            <a:off x="1" y="2212123"/>
            <a:ext cx="8689094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Quốc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Việt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Nam,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Pháp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Anh,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Tây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Ban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Nha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Brazil, Argentina,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Đức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Bồ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Đào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Nha</a:t>
            </a:r>
            <a:endParaRPr lang="en-US" sz="1900" b="0" i="0" u="none" strike="noStrike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Vị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trí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GK, RB, LB, CB, CM, CAM, WF, ST</a:t>
            </a:r>
          </a:p>
          <a:p>
            <a:pPr rtl="0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lạc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Hà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Nội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FC, HAGL, Real Madrid, Barcelona, Man City, PSG, Bayern, Atletico</a:t>
            </a:r>
          </a:p>
          <a:p>
            <a:pPr rtl="0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10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nổi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tiếng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(5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Việt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Nam + 5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quốc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tế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): Quang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Hải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Văn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Hậu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Dũng, Mbappé,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Haaland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Yamal, Vinicius, Bellingham, Wirtz, Kane</a:t>
            </a:r>
          </a:p>
          <a:p>
            <a:pPr rtl="0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5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Giải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V.League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Premier League, La Liga, Bundesliga, Champions League</a:t>
            </a:r>
          </a:p>
          <a:p>
            <a:pPr rtl="0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6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Trận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kê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9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9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endParaRPr lang="en-US" sz="1900" b="0" i="0" u="none" strike="noStrike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719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"/>
            <a:ext cx="8348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Bảng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truy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vấn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6120" y="493776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FB39607-89D2-3430-2B91-E4ECE1905A99}"/>
              </a:ext>
            </a:extLst>
          </p:cNvPr>
          <p:cNvSpPr txBox="1"/>
          <p:nvPr/>
        </p:nvSpPr>
        <p:spPr>
          <a:xfrm>
            <a:off x="126118" y="2237434"/>
            <a:ext cx="889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JOIN 4 bảng: </a:t>
            </a:r>
            <a:r>
              <a:rPr lang="vi-VN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CauThu</a:t>
            </a: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vi-VN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QuocGia</a:t>
            </a: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vi-VN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ViTri</a:t>
            </a: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CLB. Kết quả trả về họ tên, tuổi, quốc tịch, vị trí, CLB, thông số thể chất và giá trị thị trường, sắp xếp theo giá trị giảm dần.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6BE9B6C2-470B-A0ED-1034-276FC7726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0" y="605160"/>
            <a:ext cx="8439150" cy="16097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BB780667-D9DF-4922-F0A4-454341A2E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20" y="2894915"/>
            <a:ext cx="8534400" cy="1609725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E0F88852-ECC6-CAC2-74F4-1D90CD9BB2DA}"/>
              </a:ext>
            </a:extLst>
          </p:cNvPr>
          <p:cNvSpPr txBox="1"/>
          <p:nvPr/>
        </p:nvSpPr>
        <p:spPr>
          <a:xfrm>
            <a:off x="126118" y="4432753"/>
            <a:ext cx="8891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tổng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bàn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thắng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thẻ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điểm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trung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bình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từng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GROUP BY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tổng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SUM, AVG, COUNT.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786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"/>
            <a:ext cx="8348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Bảng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truy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vấn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6120" y="493776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FB39607-89D2-3430-2B91-E4ECE1905A99}"/>
              </a:ext>
            </a:extLst>
          </p:cNvPr>
          <p:cNvSpPr txBox="1"/>
          <p:nvPr/>
        </p:nvSpPr>
        <p:spPr>
          <a:xfrm>
            <a:off x="1" y="1962796"/>
            <a:ext cx="889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JOIN </a:t>
            </a:r>
            <a:r>
              <a:rPr lang="en-US" dirty="0" err="1"/>
              <a:t>GiaiDau</a:t>
            </a:r>
            <a:r>
              <a:rPr lang="en-US" dirty="0"/>
              <a:t>, </a:t>
            </a:r>
            <a:r>
              <a:rPr lang="en-US" dirty="0" err="1"/>
              <a:t>TranDau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CLB (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).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,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,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,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E0F88852-ECC6-CAC2-74F4-1D90CD9BB2DA}"/>
              </a:ext>
            </a:extLst>
          </p:cNvPr>
          <p:cNvSpPr txBox="1"/>
          <p:nvPr/>
        </p:nvSpPr>
        <p:spPr>
          <a:xfrm>
            <a:off x="0" y="4245968"/>
            <a:ext cx="8891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Lọc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TrangThai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= '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Hiệu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lực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',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còn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bằng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DATEDIFF(MONTH, GETDATE(),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NgayKetThuc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Sắp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xếp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hết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hạn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cảnh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sớm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56D6625B-4959-4842-A931-64C8B4083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" y="642362"/>
            <a:ext cx="8534400" cy="127635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DC2C46D6-356C-1EC2-63D3-186CDFDDE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" y="2626718"/>
            <a:ext cx="85725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6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"/>
            <a:ext cx="8348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Bảng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truy</a:t>
            </a:r>
            <a:r>
              <a:rPr lang="en-US" sz="2600" b="1" dirty="0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rgbClr val="1A5C35"/>
                </a:solidFill>
                <a:latin typeface="Cambria" pitchFamily="34" charset="0"/>
                <a:ea typeface="Cambria" pitchFamily="34" charset="-122"/>
              </a:rPr>
              <a:t>vấn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6120" y="493776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FB39607-89D2-3430-2B91-E4ECE1905A99}"/>
              </a:ext>
            </a:extLst>
          </p:cNvPr>
          <p:cNvSpPr txBox="1"/>
          <p:nvPr/>
        </p:nvSpPr>
        <p:spPr>
          <a:xfrm>
            <a:off x="0" y="2071901"/>
            <a:ext cx="889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JOIN </a:t>
            </a:r>
            <a:r>
              <a:rPr lang="vi-VN" dirty="0" err="1">
                <a:latin typeface="Cambria" panose="02040503050406030204" pitchFamily="18" charset="0"/>
                <a:ea typeface="Cambria" panose="02040503050406030204" pitchFamily="18" charset="0"/>
              </a:rPr>
              <a:t>ThongKeCauThu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 → </a:t>
            </a:r>
            <a:r>
              <a:rPr lang="vi-VN" dirty="0" err="1">
                <a:latin typeface="Cambria" panose="02040503050406030204" pitchFamily="18" charset="0"/>
                <a:ea typeface="Cambria" panose="02040503050406030204" pitchFamily="18" charset="0"/>
              </a:rPr>
              <a:t>TranDau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 → </a:t>
            </a:r>
            <a:r>
              <a:rPr lang="vi-VN" dirty="0" err="1">
                <a:latin typeface="Cambria" panose="02040503050406030204" pitchFamily="18" charset="0"/>
                <a:ea typeface="Cambria" panose="02040503050406030204" pitchFamily="18" charset="0"/>
              </a:rPr>
              <a:t>GiaiDau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, GROUP BY theo giải và cầu thủ, SUM bàn thắng. Phục vụ bảng xếp hạng vua phá lưới.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E0F88852-ECC6-CAC2-74F4-1D90CD9BB2DA}"/>
              </a:ext>
            </a:extLst>
          </p:cNvPr>
          <p:cNvSpPr txBox="1"/>
          <p:nvPr/>
        </p:nvSpPr>
        <p:spPr>
          <a:xfrm>
            <a:off x="-64411" y="3924079"/>
            <a:ext cx="8891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Tính số ngày nghỉ bằng DATEDIFF(DAY, </a:t>
            </a:r>
            <a:r>
              <a:rPr lang="vi-VN" dirty="0" err="1">
                <a:latin typeface="Cambria" panose="02040503050406030204" pitchFamily="18" charset="0"/>
                <a:ea typeface="Cambria" panose="02040503050406030204" pitchFamily="18" charset="0"/>
              </a:rPr>
              <a:t>NgayChanThuong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vi-VN" dirty="0" err="1">
                <a:latin typeface="Cambria" panose="02040503050406030204" pitchFamily="18" charset="0"/>
                <a:ea typeface="Cambria" panose="02040503050406030204" pitchFamily="18" charset="0"/>
              </a:rPr>
              <a:t>NgayHoiPhuc</a:t>
            </a:r>
            <a:r>
              <a:rPr lang="vi-VN" dirty="0">
                <a:latin typeface="Cambria" panose="02040503050406030204" pitchFamily="18" charset="0"/>
                <a:ea typeface="Cambria" panose="02040503050406030204" pitchFamily="18" charset="0"/>
              </a:rPr>
              <a:t>). Nếu chưa hồi phục thì lấy GETDATE() làm mốc kết thúc bằng hàm ISNULL.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AD717BE0-DA23-9A8F-CE23-7750C02CD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5" y="430091"/>
            <a:ext cx="8825116" cy="1619250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1CE85867-048E-BA5C-75B6-7F6DA4496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" y="2941398"/>
            <a:ext cx="86296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2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Hình ảnh 7" descr="Ảnh có chứa sân vận động, đấu trường, bóng đá, Đèn pha&#10;&#10;Nội dung do AI tạo ra có thể không chính xác.">
            <a:extLst>
              <a:ext uri="{FF2B5EF4-FFF2-40B4-BE49-F238E27FC236}">
                <a16:creationId xmlns:a16="http://schemas.microsoft.com/office/drawing/2014/main" id="{C28F93CD-1584-4D02-B2AC-8F27BAE9C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13716"/>
            <a:ext cx="8348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20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Câu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hỏi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truy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vấn</a:t>
            </a:r>
            <a:endParaRPr lang="en-US" sz="2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26120" y="493776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0615647-C8E0-14B3-6D0A-6657FB49D848}"/>
              </a:ext>
            </a:extLst>
          </p:cNvPr>
          <p:cNvSpPr txBox="1"/>
          <p:nvPr/>
        </p:nvSpPr>
        <p:spPr>
          <a:xfrm>
            <a:off x="0" y="731520"/>
            <a:ext cx="91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1:Danh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cao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1m80</a:t>
            </a:r>
          </a:p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2:Danh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CLB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2000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3:Liệt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kê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tên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lạc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tại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4:Hiển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thị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vị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trí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5:Liệt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kê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trận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giải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trận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thuộc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vi-VN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6:Đếm số lượng cầu thủ của từng câu lạc bộ.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7:Tính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tổng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bàn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thắng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mỗi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vi-VN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8:Liệt kê các câu lạc bộ có hơn 20 cầu thủ.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9:Tìm những cầu thủ ghi nhiều hơn 5 bàn thắng.</a:t>
            </a:r>
            <a:endParaRPr lang="en-US" sz="2400" b="0" i="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4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10:Tìm các trận đấu có hơn 10 cầu thủ tham gia thống kê.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92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ình ảnh 5" descr="Ảnh có chứa sân vận động, đấu trường, bóng đá, Đèn pha&#10;&#10;Nội dung do AI tạo ra có thể không chính xác.">
            <a:extLst>
              <a:ext uri="{FF2B5EF4-FFF2-40B4-BE49-F238E27FC236}">
                <a16:creationId xmlns:a16="http://schemas.microsoft.com/office/drawing/2014/main" id="{8817A493-9B32-255B-74F4-65633C31F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13716"/>
            <a:ext cx="8348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20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Câu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hỏi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truy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6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vấn</a:t>
            </a:r>
            <a:endParaRPr lang="en-US" sz="2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26120" y="493776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0615647-C8E0-14B3-6D0A-6657FB49D848}"/>
              </a:ext>
            </a:extLst>
          </p:cNvPr>
          <p:cNvSpPr txBox="1"/>
          <p:nvPr/>
        </p:nvSpPr>
        <p:spPr>
          <a:xfrm>
            <a:off x="0" y="731520"/>
            <a:ext cx="9144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11:Liệt kê các cầu thủ ghi nhiều hơn 2 bàn thắng và sắp xếp theo số bàn giảm dần.</a:t>
            </a:r>
            <a:endParaRPr lang="en-US" sz="2000" b="0" i="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12:Liệt kê các câu lạc bộ có hơn 15 cầu thủ và sắp xếp theo số cầu thủ giảm dần.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13:Tìm các cầu thủ có giá trị chuyển nhượng cao hơn giá trị trung bình của tất cả cầu thủ.</a:t>
            </a:r>
            <a:endParaRPr lang="en-US" sz="2000" b="0" i="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14:Tìm các câu lạc bộ có số cầu thủ nhiều hơn mức trung bình.</a:t>
            </a:r>
            <a:endParaRPr lang="en-US" sz="2000" b="0" i="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15:Thêm một cầu thủ mới nếu cầu thủ đó chưa tồn tại trong hệ thống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16:Thêm vị trí thi đấu mới nếu ký hiệu chưa tồn tại.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17:Tăng giá trị chuyển nhượng 10% cho các cầu thủ cao trên 185 </a:t>
            </a:r>
            <a:r>
              <a:rPr lang="vi-VN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cm</a:t>
            </a:r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b="0" i="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18:Tăng lương tháng cho các hợp đồng còn hiệu lực.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vi-VN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 19:Xóa các thông tin chấn thương đã hồi phục trước năm 2020.</a:t>
            </a:r>
            <a:endParaRPr lang="en-US" sz="2000" b="0" i="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Câu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20:Xóa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ghi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kê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phút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921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61872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26187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C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Thiết kế CSDL chuẩn hóa với 9 bảng, đầy đủ ràng buộc toàn vẹn (FK, CHECK, UNIQUE)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745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181051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C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Stored Procedures xử lý nghiệp vụ chính: thêm, tìm kiếm và chuyển nhượng cầu thủ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231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808" y="235915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C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Giao dịch (Transaction) đảm bảo tính nhất quán dữ liệu khi chuyển nhượng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7180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808" y="290779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C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View tổng hợp tối ưu truy vấn thông tin cầu thủ từ nhiều bảng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204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9808" y="345643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C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 truy vấn SQL đa dạng: JOIN, GROUP BY, SUM, AVG, DATEDIFF, ISNULL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005072"/>
            <a:ext cx="6217920" cy="457200"/>
          </a:xfrm>
          <a:prstGeom prst="roundRect">
            <a:avLst>
              <a:gd name="adj" fmla="val 10000"/>
            </a:avLst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06908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" y="400507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C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Dữ liệu mẫu thực tế với cầu thủ Việt Nam và các ngôi sao thế giới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71812"/>
          </a:solidFill>
          <a:ln w="12700">
            <a:solidFill>
              <a:srgbClr val="0718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48056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B88A"/>
                </a:solidFill>
              </a:rPr>
              <a:t>Hệ thống Quản lý Cầu thủ Bóng đá   |   Môn: Cơ Sở Dữ Liệu   |   SQL Server 2024-2025</a:t>
            </a:r>
            <a:endParaRPr lang="en-US" sz="11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958214E3-C3D1-DA1A-00AF-899C0BBB093D}"/>
              </a:ext>
            </a:extLst>
          </p:cNvPr>
          <p:cNvSpPr/>
          <p:nvPr/>
        </p:nvSpPr>
        <p:spPr>
          <a:xfrm>
            <a:off x="320040" y="585216"/>
            <a:ext cx="2042160" cy="329184"/>
          </a:xfrm>
          <a:prstGeom prst="roundRect">
            <a:avLst>
              <a:gd name="adj" fmla="val 138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BCEF12DC-F7DF-78F1-971E-16E705DE5F0F}"/>
              </a:ext>
            </a:extLst>
          </p:cNvPr>
          <p:cNvSpPr txBox="1"/>
          <p:nvPr/>
        </p:nvSpPr>
        <p:spPr>
          <a:xfrm>
            <a:off x="297180" y="493776"/>
            <a:ext cx="2118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luận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12B1C"/>
          </a:solidFill>
          <a:ln w="12700">
            <a:solidFill>
              <a:srgbClr val="1C4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21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258DA9C7-CF46-884D-85E9-4706E2E7AEB9}"/>
              </a:ext>
            </a:extLst>
          </p:cNvPr>
          <p:cNvSpPr/>
          <p:nvPr/>
        </p:nvSpPr>
        <p:spPr>
          <a:xfrm>
            <a:off x="804672" y="1631549"/>
            <a:ext cx="698781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FOR WATCHING!!</a:t>
            </a:r>
            <a:endParaRPr lang="vi-V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23067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2170</Words>
  <Application>Microsoft Office PowerPoint</Application>
  <PresentationFormat>Trình chiếu Trên màn hình (16:9)</PresentationFormat>
  <Paragraphs>341</Paragraphs>
  <Slides>22</Slides>
  <Notes>22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22</vt:i4>
      </vt:variant>
    </vt:vector>
  </HeadingPairs>
  <TitlesOfParts>
    <vt:vector size="25" baseType="lpstr">
      <vt:lpstr>Arial</vt:lpstr>
      <vt:lpstr>Cambria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Cầu Thủ Bóng Đá</dc:title>
  <dc:subject>PptxGenJS Presentation</dc:subject>
  <dc:creator>PptxGenJS</dc:creator>
  <cp:lastModifiedBy>Minh</cp:lastModifiedBy>
  <cp:revision>5</cp:revision>
  <dcterms:created xsi:type="dcterms:W3CDTF">2026-04-16T07:04:36Z</dcterms:created>
  <dcterms:modified xsi:type="dcterms:W3CDTF">2026-04-17T02:17:30Z</dcterms:modified>
</cp:coreProperties>
</file>